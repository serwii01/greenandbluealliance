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/>
    <p:restoredTop sz="94641"/>
  </p:normalViewPr>
  <p:slideViewPr>
    <p:cSldViewPr snapToGrid="0" snapToObjects="1">
      <p:cViewPr varScale="1">
        <p:scale>
          <a:sx n="120" d="100"/>
          <a:sy n="120" d="100"/>
        </p:scale>
        <p:origin x="184" y="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28837" y="4186981"/>
            <a:ext cx="7934325" cy="1667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endParaRPr lang="es-ES" sz="1350" b="0" i="0" u="none" dirty="0">
              <a:solidFill>
                <a:srgbClr val="0F172A"/>
              </a:solidFill>
              <a:latin typeface="Inter SemiBold"/>
            </a:endParaRPr>
          </a:p>
          <a:p>
            <a:pPr algn="ctr">
              <a:lnSpc>
                <a:spcPts val="2160"/>
              </a:lnSpc>
            </a:pPr>
            <a:endParaRPr lang="es-ES" sz="1350" dirty="0">
              <a:solidFill>
                <a:srgbClr val="0F172A"/>
              </a:solidFill>
              <a:latin typeface="Inter SemiBold"/>
            </a:endParaRPr>
          </a:p>
          <a:p>
            <a:pPr algn="ctr">
              <a:lnSpc>
                <a:spcPts val="2160"/>
              </a:lnSpc>
            </a:pPr>
            <a:endParaRPr lang="es-ES" sz="1350" b="0" i="0" u="none" dirty="0">
              <a:solidFill>
                <a:srgbClr val="0F172A"/>
              </a:solidFill>
              <a:latin typeface="Inter SemiBold"/>
            </a:endParaRPr>
          </a:p>
          <a:p>
            <a:pPr algn="ctr">
              <a:lnSpc>
                <a:spcPts val="2160"/>
              </a:lnSpc>
            </a:pPr>
            <a:endParaRPr lang="es-ES" sz="1350" dirty="0">
              <a:solidFill>
                <a:srgbClr val="0F172A"/>
              </a:solidFill>
              <a:latin typeface="Inter SemiBold"/>
            </a:endParaRPr>
          </a:p>
          <a:p>
            <a:pPr algn="ctr">
              <a:lnSpc>
                <a:spcPts val="2160"/>
              </a:lnSpc>
            </a:pPr>
            <a:endParaRPr lang="es-ES" sz="1350" b="0" i="0" u="none" dirty="0">
              <a:solidFill>
                <a:srgbClr val="0F172A"/>
              </a:solidFill>
              <a:latin typeface="Inter SemiBold"/>
            </a:endParaRPr>
          </a:p>
          <a:p>
            <a:pPr algn="ctr">
              <a:lnSpc>
                <a:spcPts val="2160"/>
              </a:lnSpc>
            </a:pPr>
            <a:r>
              <a:rPr sz="1350" b="0" i="0" u="none" dirty="0" err="1">
                <a:solidFill>
                  <a:srgbClr val="0F172A"/>
                </a:solidFill>
                <a:latin typeface="Inter SemiBold"/>
              </a:rPr>
              <a:t>Acción</a:t>
            </a:r>
            <a:r>
              <a:rPr sz="1350" b="0" i="0" u="none" dirty="0">
                <a:solidFill>
                  <a:srgbClr val="0F172A"/>
                </a:solidFill>
                <a:latin typeface="Inter SemiBold"/>
              </a:rPr>
              <a:t> </a:t>
            </a:r>
            <a:r>
              <a:rPr sz="1350" b="0" i="0" u="none" dirty="0" err="1">
                <a:solidFill>
                  <a:srgbClr val="0F172A"/>
                </a:solidFill>
                <a:latin typeface="Inter SemiBold"/>
              </a:rPr>
              <a:t>Directa</a:t>
            </a:r>
            <a:r>
              <a:rPr sz="1350" b="0" i="0" u="none" dirty="0">
                <a:solidFill>
                  <a:srgbClr val="0F172A"/>
                </a:solidFill>
                <a:latin typeface="Inter SemiBold"/>
              </a:rPr>
              <a:t> • </a:t>
            </a:r>
            <a:r>
              <a:rPr sz="1350" b="0" i="0" u="none" dirty="0" err="1">
                <a:solidFill>
                  <a:srgbClr val="0F172A"/>
                </a:solidFill>
                <a:latin typeface="Inter SemiBold"/>
              </a:rPr>
              <a:t>Excelencia</a:t>
            </a:r>
            <a:r>
              <a:rPr sz="1350" b="0" i="0" u="none" dirty="0">
                <a:solidFill>
                  <a:srgbClr val="0F172A"/>
                </a:solidFill>
                <a:latin typeface="Inter SemiBold"/>
              </a:rPr>
              <a:t> Técnica • </a:t>
            </a:r>
            <a:r>
              <a:rPr sz="1350" b="0" i="0" u="none" dirty="0" err="1">
                <a:solidFill>
                  <a:srgbClr val="0F172A"/>
                </a:solidFill>
                <a:latin typeface="Inter SemiBold"/>
              </a:rPr>
              <a:t>Apoyo</a:t>
            </a:r>
            <a:r>
              <a:rPr sz="1350" b="0" i="0" u="none" dirty="0">
                <a:solidFill>
                  <a:srgbClr val="0F172A"/>
                </a:solidFill>
                <a:latin typeface="Inter SemiBold"/>
              </a:rPr>
              <a:t> Ambiental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8837" y="4604146"/>
            <a:ext cx="7934325" cy="14416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endParaRPr lang="es-ES" sz="1200" b="0" i="0" u="none" dirty="0">
              <a:solidFill>
                <a:srgbClr val="64748B"/>
              </a:solidFill>
              <a:latin typeface="Inter"/>
            </a:endParaRPr>
          </a:p>
          <a:p>
            <a:pPr algn="ctr">
              <a:lnSpc>
                <a:spcPts val="1920"/>
              </a:lnSpc>
            </a:pPr>
            <a:endParaRPr lang="es-ES" sz="1200" dirty="0">
              <a:solidFill>
                <a:srgbClr val="64748B"/>
              </a:solidFill>
              <a:latin typeface="Inter"/>
            </a:endParaRPr>
          </a:p>
          <a:p>
            <a:pPr algn="ctr">
              <a:lnSpc>
                <a:spcPts val="1920"/>
              </a:lnSpc>
            </a:pPr>
            <a:endParaRPr lang="es-ES" sz="1200" b="0" i="0" u="none" dirty="0">
              <a:solidFill>
                <a:srgbClr val="64748B"/>
              </a:solidFill>
              <a:latin typeface="Inter"/>
            </a:endParaRPr>
          </a:p>
          <a:p>
            <a:pPr algn="ctr">
              <a:lnSpc>
                <a:spcPts val="1920"/>
              </a:lnSpc>
            </a:pPr>
            <a:endParaRPr lang="es-ES" sz="1200" dirty="0">
              <a:solidFill>
                <a:srgbClr val="64748B"/>
              </a:solidFill>
              <a:latin typeface="Inter"/>
            </a:endParaRPr>
          </a:p>
          <a:p>
            <a:pPr algn="ctr">
              <a:lnSpc>
                <a:spcPts val="1920"/>
              </a:lnSpc>
            </a:pPr>
            <a:endParaRPr lang="es-ES" sz="1200" b="0" i="0" u="none" dirty="0">
              <a:solidFill>
                <a:srgbClr val="64748B"/>
              </a:solidFill>
              <a:latin typeface="Inter"/>
            </a:endParaRPr>
          </a:p>
          <a:p>
            <a:pPr algn="ctr">
              <a:lnSpc>
                <a:spcPts val="1920"/>
              </a:lnSpc>
            </a:pPr>
            <a:r>
              <a:rPr sz="1200" b="0" i="0" u="none" dirty="0">
                <a:solidFill>
                  <a:srgbClr val="64748B"/>
                </a:solidFill>
                <a:latin typeface="Inter"/>
              </a:rPr>
              <a:t>Sevilla, Andalucía,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España</a:t>
            </a:r>
            <a:endParaRPr sz="1200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BAB7FA1-0BDB-A6FE-764E-1EA61F8EF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083" y="0"/>
            <a:ext cx="5629507" cy="562950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C2E7151-CCC6-BEEB-DCAD-4267AEF6372A}"/>
              </a:ext>
            </a:extLst>
          </p:cNvPr>
          <p:cNvSpPr txBox="1"/>
          <p:nvPr/>
        </p:nvSpPr>
        <p:spPr>
          <a:xfrm>
            <a:off x="3049859" y="324433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95550" y="2249983"/>
            <a:ext cx="72009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Montserrat"/>
              </a:rPr>
              <a:t>Identidad y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83433"/>
            <a:ext cx="762000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Somos una organización de acción directa y alto impacto concebida para responder con urgencia y eficacia a la crisis climática y ecológica. Lejos del activismo simbólico, operamos con excelencia técnica sobre el terreno.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6262" y="4931866"/>
            <a:ext cx="34194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 SemiBold"/>
              </a:rPr>
              <a:t>"No es mi basura, pero es mi planeta"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3166"/>
            <a:ext cx="3492549" cy="42270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763166"/>
            <a:ext cx="3492549" cy="42270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763166"/>
            <a:ext cx="3492549" cy="42270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106066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106191"/>
            <a:ext cx="209026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Montserrat SemiBold"/>
              </a:rPr>
              <a:t>Rigor Científico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53866"/>
            <a:ext cx="2806749" cy="1385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Estudios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previos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posteriores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cada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intervención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Protocolos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que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comparan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estado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inicial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con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los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resultados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obtenidos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ofreciendo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datos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concretos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verificables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106066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2699" y="3106191"/>
            <a:ext cx="285035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Montserrat SemiBold"/>
              </a:rPr>
              <a:t>Tecnología Avanzada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2699" y="3553866"/>
            <a:ext cx="2806749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Logística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especializada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para zonas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complejas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: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buceo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técnico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embarcaciones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operativas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litoral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uso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drones para la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cartografía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seguimiento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preciso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las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áreas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actuación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99" y="2106066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0999" y="3106191"/>
            <a:ext cx="294708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 err="1">
                <a:solidFill>
                  <a:srgbClr val="0F172A"/>
                </a:solidFill>
                <a:latin typeface="Montserrat SemiBold"/>
              </a:rPr>
              <a:t>Sostenibilidad</a:t>
            </a:r>
            <a:r>
              <a:rPr sz="1950" b="0" i="0" u="none" dirty="0">
                <a:solidFill>
                  <a:srgbClr val="0F172A"/>
                </a:solidFill>
                <a:latin typeface="Montserrat SemiBold"/>
              </a:rPr>
              <a:t> Temporal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0999" y="3858666"/>
            <a:ext cx="2806749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Monitoreo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a largo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plazo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 No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abandonamos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ecosistema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tras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la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intervención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;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realizamos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un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seguimiento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continuado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para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asegurar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que la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recuperación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se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consolida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estructuralmente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2287041"/>
            <a:ext cx="40005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3674" y="2287041"/>
            <a:ext cx="400050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1974" y="2287041"/>
            <a:ext cx="40005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ontserrat"/>
              </a:rPr>
              <a:t>Modelo Estratégico de Excelencia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456580"/>
            <a:ext cx="52387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56580"/>
            <a:ext cx="52387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Intervenimos directamente para restaurar la salud de los suelos y la biodiversidad en Andalucía. Sin suelos sanos, no hay futuro.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1075580"/>
            <a:ext cx="6172200" cy="5782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125" y="2565201"/>
            <a:ext cx="4810125" cy="1419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Santuarios de Interior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Regeneración intensiva de puntos negros, vertederos ilegales y zonas con pérdida severa de biodiversidad. Incorporamos actividades reales de impacto para voluntarios.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174777"/>
            <a:ext cx="4810125" cy="870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Custodia del Territorio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Gestión activa y acuerdos con propietarios para proteger espacios de alto valor ecológico en riesgo.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5235773"/>
            <a:ext cx="4810125" cy="870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Educación Ambiental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Formación en centros educativos y foros empresariales para crear conciencia sobre la crisis climática.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98539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0811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269110"/>
            <a:ext cx="238125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6123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ontserrat"/>
              </a:rPr>
              <a:t>Eje Green: Ecosistemas Terrestres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ontserrat"/>
              </a:rPr>
              <a:t>Eje Blue: Océano y Litoral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92982"/>
            <a:ext cx="52387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Somos especialistas en intervención acuática costera. El mar produce más del 50% del oxígeno que respiramos y regula las emisiones globales.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44155"/>
            <a:ext cx="52387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La absorción oceánica de carbono se representa científicamente mediante el ciclo del dióxido de carbono: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444454"/>
            <a:ext cx="5238750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Realizamos expediciones Deep-Blue con buceo técnico para retirar "redes fantasma" letales, y patrullaje de litoral para medir y eliminar microplásticos en suspensión, </a:t>
            </a:r>
            <a:r>
              <a:rPr sz="1425" b="1" i="0" u="none">
                <a:solidFill>
                  <a:srgbClr val="475569"/>
                </a:solidFill>
                <a:latin typeface="Inter"/>
              </a:rPr>
              <a:t>además de medir el ruido marino para evaluar el nivel de estrés de las especies marinas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58257"/>
            <a:ext cx="2342852" cy="190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7476"/>
            <a:ext cx="5238750" cy="43183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717476"/>
            <a:ext cx="5238750" cy="43183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50" y="2155626"/>
            <a:ext cx="458057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369A1"/>
                </a:solidFill>
                <a:latin typeface="Montserrat SemiBold"/>
              </a:rPr>
              <a:t>Asesoría Técnica Especializada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9650" y="2603301"/>
            <a:ext cx="4362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650" y="2812851"/>
            <a:ext cx="4362450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Proporcionamos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know-how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necesario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para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proyectos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ambientales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empresas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administraciones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Diseñamos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integralmente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proyectos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adaptados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cada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ecosistema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327177"/>
            <a:ext cx="4362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Gestionamos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trámites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administrativos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elaboramos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informes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impacto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ambiental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rigurosos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ofrecemos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formación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protocolos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limpieza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gestión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residuos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2155626"/>
            <a:ext cx="458057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369A1"/>
                </a:solidFill>
                <a:latin typeface="Montserrat SemiBold"/>
              </a:rPr>
              <a:t>Apoyo Económico y Dinamización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9900" y="2908101"/>
            <a:ext cx="4362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9900" y="3117651"/>
            <a:ext cx="4362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Actuamos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como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dinamizadores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para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sector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ambiental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local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mediante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Micro-Grants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: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financiación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directa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logística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para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grupos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alineados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con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nuestra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metodología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4357687"/>
            <a:ext cx="4362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Operamos un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Puente de Patrocinio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que conecta empresas con proyectos locales para RSC, y mantenemos un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Fondo de Emergencia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para intervenciones urgentes.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ontserrat"/>
              </a:rPr>
              <a:t>Hub de Apoyo y Asesoría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98414"/>
            <a:ext cx="11049000" cy="455652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607939"/>
          <a:ext cx="11029949" cy="4537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2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74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Montserrat"/>
                        </a:rPr>
                        <a:t>Canal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Montserrat"/>
                        </a:rPr>
                        <a:t>Descripción y Propósito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4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Inter"/>
                        </a:rPr>
                        <a:t>1. Autofinanciación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Consultoría técnica a empresas, servicios de sostenibilidad y auditorías. Pilar de independencia para reinvertir en nuestra misión.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4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Inter"/>
                        </a:rPr>
                        <a:t>2. Teaming / Comunidad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Microdonaciones periódicas de socios que conforman un fondo social permanente destinado a micro-subvenciones para proyectos externos.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749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Inter"/>
                        </a:rPr>
                        <a:t>3. Crowdfunding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Campañas para hitos de alto impacto: adquisición de maquinaria, financiación de expediciones deep-blue o drones de monitoreo.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74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Inter"/>
                        </a:rPr>
                        <a:t>4. Subvenciones Públicas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Fondos europeos y autonómicos para innovación ambiental. Equipo dedicado exclusivamente a la captación y justificación rigurosa.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231826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38512" y="2231826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20903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8512" y="3209032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1862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8512" y="41862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516344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8512" y="5163442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ontserrat"/>
              </a:rPr>
              <a:t>Estrategia de Financiación Independiente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5566"/>
            <a:ext cx="3492549" cy="3922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15566"/>
            <a:ext cx="3492549" cy="39222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15566"/>
            <a:ext cx="3492549" cy="39222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258466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58591"/>
            <a:ext cx="282035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Montserrat SemiBold"/>
              </a:rPr>
              <a:t>Visibilidad Mediática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6266"/>
            <a:ext cx="2806749" cy="1385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Conexión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directa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con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deporte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élite y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eventos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alto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nivel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través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"No Planet B".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Cobertura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acciones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de campo</a:t>
            </a:r>
            <a:r>
              <a:rPr lang="es-ES" sz="1350" b="0" i="0" u="none" dirty="0">
                <a:solidFill>
                  <a:srgbClr val="475569"/>
                </a:solidFill>
                <a:latin typeface="Inter"/>
              </a:rPr>
              <a:t> en todos los ámbitos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con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reportajes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audiovisuales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258466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2699" y="3258591"/>
            <a:ext cx="254031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Montserrat SemiBold"/>
              </a:rPr>
              <a:t>Seguridad Jurídica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2699" y="3706266"/>
            <a:ext cx="2806749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Garantía de cumplimiento normativo. Acompañamiento legal ante organismos reguladores, asegurando que cada proyecto de RSC cumple los requisitos europeos.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99" y="2258466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0999" y="3258591"/>
            <a:ext cx="228028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Montserrat SemiBold"/>
              </a:rPr>
              <a:t>Impacto Medible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0999" y="3706266"/>
            <a:ext cx="2806749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Datos científicos rigurosos. Informes personalizados con métricas verificables: km de litoral limpiados, toneladas de residuos retiradas y hectáreas restauradas.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2439441"/>
            <a:ext cx="40005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1287" y="2439441"/>
            <a:ext cx="50482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1974" y="2439441"/>
            <a:ext cx="40005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ontserrat"/>
              </a:rPr>
              <a:t>Propuesta de Valor para Colaboradores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8380"/>
            <a:ext cx="5238750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568130"/>
            <a:ext cx="52387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0F172A"/>
                </a:solidFill>
                <a:latin typeface="Inter"/>
              </a:rPr>
              <a:t>IMPACTO VERIFICADO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165151"/>
            <a:ext cx="550068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Montserrat SemiBold"/>
              </a:rPr>
              <a:t>La transformación real se mide y documenta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2917626"/>
            <a:ext cx="52387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Cada acción de Green and Blue Alliance genera datos comprobables. Cada intervención está documentada con estudios científicos pre y post actuación.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3930997"/>
            <a:ext cx="52387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 SemiBold"/>
              </a:rPr>
              <a:t>Cero greenwashing: solo resultados reales, medibles y publicados.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4622452"/>
            <a:ext cx="52387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Este ciclo virtuoso —intervenir, medir, regenerar— es el núcleo metodológico que nos distingue en la protección del territorio andaluz.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ontserrat"/>
              </a:rPr>
              <a:t>Nuestro Impacto en Cifras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8992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1" y="5793168"/>
            <a:ext cx="5514975" cy="647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62312" y="2821334"/>
            <a:ext cx="5667375" cy="1954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endParaRPr lang="es-ES" sz="5400" b="1" i="1" u="none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3120"/>
              </a:lnSpc>
            </a:pPr>
            <a:endParaRPr lang="es-ES" sz="5400" b="1" i="1" u="none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3120"/>
              </a:lnSpc>
            </a:pPr>
            <a:endParaRPr lang="es-ES" sz="5400" b="1" i="1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3120"/>
              </a:lnSpc>
            </a:pPr>
            <a:r>
              <a:rPr lang="es-ES" sz="5400" b="1" i="1" u="none" dirty="0">
                <a:solidFill>
                  <a:srgbClr val="475569"/>
                </a:solidFill>
                <a:latin typeface="Inter"/>
              </a:rPr>
              <a:t>Únete a la Alianza</a:t>
            </a:r>
            <a:endParaRPr lang="es-ES" sz="1950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3120"/>
              </a:lnSpc>
            </a:pPr>
            <a:r>
              <a:rPr sz="1950" b="1" i="0" u="none" dirty="0">
                <a:solidFill>
                  <a:srgbClr val="475569"/>
                </a:solidFill>
                <a:latin typeface="Inter"/>
              </a:rPr>
              <a:t>El </a:t>
            </a:r>
            <a:r>
              <a:rPr sz="1950" b="1" i="0" u="none" dirty="0" err="1">
                <a:solidFill>
                  <a:srgbClr val="475569"/>
                </a:solidFill>
                <a:latin typeface="Inter"/>
              </a:rPr>
              <a:t>planeta</a:t>
            </a:r>
            <a:r>
              <a:rPr sz="1950" b="1" i="0" u="none" dirty="0">
                <a:solidFill>
                  <a:srgbClr val="475569"/>
                </a:solidFill>
                <a:latin typeface="Inter"/>
              </a:rPr>
              <a:t> no </a:t>
            </a:r>
            <a:r>
              <a:rPr sz="1950" b="1" i="0" u="none" dirty="0" err="1">
                <a:solidFill>
                  <a:srgbClr val="475569"/>
                </a:solidFill>
                <a:latin typeface="Inter"/>
              </a:rPr>
              <a:t>puede</a:t>
            </a:r>
            <a:r>
              <a:rPr sz="195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950" b="1" i="0" u="none" dirty="0" err="1">
                <a:solidFill>
                  <a:srgbClr val="475569"/>
                </a:solidFill>
                <a:latin typeface="Inter"/>
              </a:rPr>
              <a:t>esperar</a:t>
            </a:r>
            <a:r>
              <a:rPr sz="1950" b="1" i="0" u="none" dirty="0">
                <a:solidFill>
                  <a:srgbClr val="475569"/>
                </a:solidFill>
                <a:latin typeface="Inter"/>
              </a:rPr>
              <a:t>. </a:t>
            </a:r>
            <a:r>
              <a:rPr sz="1950" b="1" i="0" u="none" dirty="0" err="1">
                <a:solidFill>
                  <a:srgbClr val="475569"/>
                </a:solidFill>
                <a:latin typeface="Inter"/>
              </a:rPr>
              <a:t>Nosotros</a:t>
            </a:r>
            <a:r>
              <a:rPr sz="195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950" b="1" i="0" u="none" dirty="0" err="1">
                <a:solidFill>
                  <a:srgbClr val="475569"/>
                </a:solidFill>
                <a:latin typeface="Inter"/>
              </a:rPr>
              <a:t>tampoco</a:t>
            </a:r>
            <a:r>
              <a:rPr sz="1950" b="1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2311" y="4519937"/>
            <a:ext cx="6106771" cy="1215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endParaRPr lang="es-ES" sz="1500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2400"/>
              </a:lnSpc>
            </a:pPr>
            <a:r>
              <a:rPr lang="es-ES" b="1" i="1" dirty="0">
                <a:solidFill>
                  <a:srgbClr val="475569"/>
                </a:solidFill>
                <a:latin typeface="Inter"/>
              </a:rPr>
              <a:t>Colabora como patrocinador, actúa en nuestras expediciones y difunde nuestra misión. La transformación se construye ecosistema a ecosistema.</a:t>
            </a:r>
            <a:endParaRPr b="1" i="1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89C32ED-B88B-E05C-D1B2-DA1A78596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514" y="241636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728</Words>
  <Application>Microsoft Macintosh PowerPoint</Application>
  <PresentationFormat>Panorámica</PresentationFormat>
  <Paragraphs>69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Inter</vt:lpstr>
      <vt:lpstr>Inter SemiBold</vt:lpstr>
      <vt:lpstr>Montserrat</vt:lpstr>
      <vt:lpstr>Montserrat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Jose Antonio Fernandez</cp:lastModifiedBy>
  <cp:revision>4</cp:revision>
  <dcterms:created xsi:type="dcterms:W3CDTF">2013-01-27T09:14:16Z</dcterms:created>
  <dcterms:modified xsi:type="dcterms:W3CDTF">2026-08-27T20:11:06Z</dcterms:modified>
  <cp:category/>
</cp:coreProperties>
</file>